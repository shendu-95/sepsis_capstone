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81" r:id="rId5"/>
    <p:sldId id="284" r:id="rId6"/>
    <p:sldId id="261" r:id="rId7"/>
    <p:sldId id="278" r:id="rId8"/>
    <p:sldId id="273" r:id="rId9"/>
    <p:sldId id="279" r:id="rId10"/>
    <p:sldId id="293" r:id="rId11"/>
    <p:sldId id="294" r:id="rId12"/>
    <p:sldId id="265" r:id="rId13"/>
    <p:sldId id="296" r:id="rId14"/>
    <p:sldId id="295" r:id="rId15"/>
    <p:sldId id="266" r:id="rId16"/>
    <p:sldId id="277" r:id="rId17"/>
    <p:sldId id="268" r:id="rId18"/>
    <p:sldId id="292" r:id="rId19"/>
    <p:sldId id="28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7D4D94-89F0-4C53-ABE2-213F3C4DE12C}" v="80" dt="2025-11-12T12:44:14.320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879" autoAdjust="0"/>
  </p:normalViewPr>
  <p:slideViewPr>
    <p:cSldViewPr snapToGrid="0">
      <p:cViewPr>
        <p:scale>
          <a:sx n="150" d="100"/>
          <a:sy n="150" d="100"/>
        </p:scale>
        <p:origin x="624" y="138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rsendu maiti" userId="0e2676f6f36f958f" providerId="LiveId" clId="{41C84AA6-2991-4B1A-9F4C-3E5567D40617}"/>
    <pc:docChg chg="custSel addSld modSld sldOrd">
      <pc:chgData name="shirsendu maiti" userId="0e2676f6f36f958f" providerId="LiveId" clId="{41C84AA6-2991-4B1A-9F4C-3E5567D40617}" dt="2025-11-12T12:44:51.889" v="604" actId="113"/>
      <pc:docMkLst>
        <pc:docMk/>
      </pc:docMkLst>
      <pc:sldChg chg="modSp mod">
        <pc:chgData name="shirsendu maiti" userId="0e2676f6f36f958f" providerId="LiveId" clId="{41C84AA6-2991-4B1A-9F4C-3E5567D40617}" dt="2025-11-12T10:52:39.143" v="238" actId="14100"/>
        <pc:sldMkLst>
          <pc:docMk/>
          <pc:sldMk cId="3666674671" sldId="261"/>
        </pc:sldMkLst>
        <pc:spChg chg="mod">
          <ac:chgData name="shirsendu maiti" userId="0e2676f6f36f958f" providerId="LiveId" clId="{41C84AA6-2991-4B1A-9F4C-3E5567D40617}" dt="2025-11-12T10:52:39.143" v="238" actId="14100"/>
          <ac:spMkLst>
            <pc:docMk/>
            <pc:sldMk cId="3666674671" sldId="261"/>
            <ac:spMk id="3" creationId="{A6A33159-D030-2F82-A142-F75940728319}"/>
          </ac:spMkLst>
        </pc:spChg>
      </pc:sldChg>
      <pc:sldChg chg="addSp delSp modSp mod">
        <pc:chgData name="shirsendu maiti" userId="0e2676f6f36f958f" providerId="LiveId" clId="{41C84AA6-2991-4B1A-9F4C-3E5567D40617}" dt="2025-11-12T10:40:24.900" v="131" actId="1076"/>
        <pc:sldMkLst>
          <pc:docMk/>
          <pc:sldMk cId="729609147" sldId="265"/>
        </pc:sldMkLst>
        <pc:spChg chg="mod">
          <ac:chgData name="shirsendu maiti" userId="0e2676f6f36f958f" providerId="LiveId" clId="{41C84AA6-2991-4B1A-9F4C-3E5567D40617}" dt="2025-11-12T10:40:17.344" v="129" actId="14100"/>
          <ac:spMkLst>
            <pc:docMk/>
            <pc:sldMk cId="729609147" sldId="265"/>
            <ac:spMk id="2" creationId="{314C27C8-165C-5513-DB4B-9D840097C545}"/>
          </ac:spMkLst>
        </pc:spChg>
        <pc:spChg chg="del mod">
          <ac:chgData name="shirsendu maiti" userId="0e2676f6f36f958f" providerId="LiveId" clId="{41C84AA6-2991-4B1A-9F4C-3E5567D40617}" dt="2025-11-12T10:38:28.333" v="91" actId="931"/>
          <ac:spMkLst>
            <pc:docMk/>
            <pc:sldMk cId="729609147" sldId="265"/>
            <ac:spMk id="4" creationId="{83302BFD-960F-CBB3-E984-CDC12813A10C}"/>
          </ac:spMkLst>
        </pc:spChg>
        <pc:spChg chg="mod">
          <ac:chgData name="shirsendu maiti" userId="0e2676f6f36f958f" providerId="LiveId" clId="{41C84AA6-2991-4B1A-9F4C-3E5567D40617}" dt="2025-11-12T10:40:21.932" v="130" actId="1076"/>
          <ac:spMkLst>
            <pc:docMk/>
            <pc:sldMk cId="729609147" sldId="265"/>
            <ac:spMk id="52" creationId="{F2CCE123-860F-8623-781F-12CEA66980F5}"/>
          </ac:spMkLst>
        </pc:spChg>
        <pc:picChg chg="add mod">
          <ac:chgData name="shirsendu maiti" userId="0e2676f6f36f958f" providerId="LiveId" clId="{41C84AA6-2991-4B1A-9F4C-3E5567D40617}" dt="2025-11-12T10:40:24.900" v="131" actId="1076"/>
          <ac:picMkLst>
            <pc:docMk/>
            <pc:sldMk cId="729609147" sldId="265"/>
            <ac:picMk id="6" creationId="{BCDCB54F-74BC-8CB3-987C-5BD09524633B}"/>
          </ac:picMkLst>
        </pc:picChg>
      </pc:sldChg>
      <pc:sldChg chg="addSp delSp modSp mod ord">
        <pc:chgData name="shirsendu maiti" userId="0e2676f6f36f958f" providerId="LiveId" clId="{41C84AA6-2991-4B1A-9F4C-3E5567D40617}" dt="2025-11-12T10:45:52.030" v="181" actId="33524"/>
        <pc:sldMkLst>
          <pc:docMk/>
          <pc:sldMk cId="643777997" sldId="266"/>
        </pc:sldMkLst>
        <pc:spChg chg="mod">
          <ac:chgData name="shirsendu maiti" userId="0e2676f6f36f958f" providerId="LiveId" clId="{41C84AA6-2991-4B1A-9F4C-3E5567D40617}" dt="2025-11-12T10:43:14.279" v="153" actId="113"/>
          <ac:spMkLst>
            <pc:docMk/>
            <pc:sldMk cId="643777997" sldId="266"/>
            <ac:spMk id="2" creationId="{5D030A76-B788-B363-104E-266B7C7F7208}"/>
          </ac:spMkLst>
        </pc:spChg>
        <pc:spChg chg="mod">
          <ac:chgData name="shirsendu maiti" userId="0e2676f6f36f958f" providerId="LiveId" clId="{41C84AA6-2991-4B1A-9F4C-3E5567D40617}" dt="2025-11-12T10:45:52.030" v="181" actId="33524"/>
          <ac:spMkLst>
            <pc:docMk/>
            <pc:sldMk cId="643777997" sldId="266"/>
            <ac:spMk id="3" creationId="{05948542-FCE1-3AE6-C6C9-17975609DF70}"/>
          </ac:spMkLst>
        </pc:spChg>
        <pc:spChg chg="del mod">
          <ac:chgData name="shirsendu maiti" userId="0e2676f6f36f958f" providerId="LiveId" clId="{41C84AA6-2991-4B1A-9F4C-3E5567D40617}" dt="2025-11-12T10:44:35.229" v="166" actId="478"/>
          <ac:spMkLst>
            <pc:docMk/>
            <pc:sldMk cId="643777997" sldId="266"/>
            <ac:spMk id="4" creationId="{3EE67564-0457-E486-97D0-8109D2C97B3F}"/>
          </ac:spMkLst>
        </pc:spChg>
        <pc:spChg chg="add del mod">
          <ac:chgData name="shirsendu maiti" userId="0e2676f6f36f958f" providerId="LiveId" clId="{41C84AA6-2991-4B1A-9F4C-3E5567D40617}" dt="2025-11-12T10:44:41.949" v="170" actId="478"/>
          <ac:spMkLst>
            <pc:docMk/>
            <pc:sldMk cId="643777997" sldId="266"/>
            <ac:spMk id="7" creationId="{ADED363C-374E-CE2D-ECB1-640E397E89B0}"/>
          </ac:spMkLst>
        </pc:spChg>
        <pc:picChg chg="add del mod">
          <ac:chgData name="shirsendu maiti" userId="0e2676f6f36f958f" providerId="LiveId" clId="{41C84AA6-2991-4B1A-9F4C-3E5567D40617}" dt="2025-11-12T10:45:41.097" v="177" actId="478"/>
          <ac:picMkLst>
            <pc:docMk/>
            <pc:sldMk cId="643777997" sldId="266"/>
            <ac:picMk id="9" creationId="{D8E525A6-4DE2-8EC9-AA43-9B39368C23B9}"/>
          </ac:picMkLst>
        </pc:picChg>
        <pc:picChg chg="add mod">
          <ac:chgData name="shirsendu maiti" userId="0e2676f6f36f958f" providerId="LiveId" clId="{41C84AA6-2991-4B1A-9F4C-3E5567D40617}" dt="2025-11-12T10:45:45.559" v="180" actId="1076"/>
          <ac:picMkLst>
            <pc:docMk/>
            <pc:sldMk cId="643777997" sldId="266"/>
            <ac:picMk id="11" creationId="{6531DBCC-167F-8934-0270-15CC045F57E7}"/>
          </ac:picMkLst>
        </pc:picChg>
      </pc:sldChg>
      <pc:sldChg chg="addSp delSp modSp mod">
        <pc:chgData name="shirsendu maiti" userId="0e2676f6f36f958f" providerId="LiveId" clId="{41C84AA6-2991-4B1A-9F4C-3E5567D40617}" dt="2025-11-12T11:11:53.318" v="324" actId="1076"/>
        <pc:sldMkLst>
          <pc:docMk/>
          <pc:sldMk cId="4259977132" sldId="268"/>
        </pc:sldMkLst>
        <pc:spChg chg="mod">
          <ac:chgData name="shirsendu maiti" userId="0e2676f6f36f958f" providerId="LiveId" clId="{41C84AA6-2991-4B1A-9F4C-3E5567D40617}" dt="2025-11-12T11:09:50.019" v="279" actId="1076"/>
          <ac:spMkLst>
            <pc:docMk/>
            <pc:sldMk cId="4259977132" sldId="268"/>
            <ac:spMk id="2" creationId="{B7545968-70F7-0180-6448-3547E442EF4A}"/>
          </ac:spMkLst>
        </pc:spChg>
        <pc:spChg chg="add del mod">
          <ac:chgData name="shirsendu maiti" userId="0e2676f6f36f958f" providerId="LiveId" clId="{41C84AA6-2991-4B1A-9F4C-3E5567D40617}" dt="2025-11-12T11:07:51.618" v="245" actId="478"/>
          <ac:spMkLst>
            <pc:docMk/>
            <pc:sldMk cId="4259977132" sldId="268"/>
            <ac:spMk id="5" creationId="{D5D61506-57BC-5BD9-D0CE-814C7283E1FB}"/>
          </ac:spMkLst>
        </pc:spChg>
        <pc:spChg chg="add">
          <ac:chgData name="shirsendu maiti" userId="0e2676f6f36f958f" providerId="LiveId" clId="{41C84AA6-2991-4B1A-9F4C-3E5567D40617}" dt="2025-11-12T11:08:39.083" v="250"/>
          <ac:spMkLst>
            <pc:docMk/>
            <pc:sldMk cId="4259977132" sldId="268"/>
            <ac:spMk id="6" creationId="{0DC5F2ED-6749-78E0-A821-7C3A1ADF5A33}"/>
          </ac:spMkLst>
        </pc:spChg>
        <pc:spChg chg="add mod">
          <ac:chgData name="shirsendu maiti" userId="0e2676f6f36f958f" providerId="LiveId" clId="{41C84AA6-2991-4B1A-9F4C-3E5567D40617}" dt="2025-11-12T11:10:56.517" v="305" actId="1076"/>
          <ac:spMkLst>
            <pc:docMk/>
            <pc:sldMk cId="4259977132" sldId="268"/>
            <ac:spMk id="7" creationId="{AA353244-ACC3-7E87-1D99-A35A1B3C2802}"/>
          </ac:spMkLst>
        </pc:spChg>
        <pc:spChg chg="del mod">
          <ac:chgData name="shirsendu maiti" userId="0e2676f6f36f958f" providerId="LiveId" clId="{41C84AA6-2991-4B1A-9F4C-3E5567D40617}" dt="2025-11-12T11:08:43.996" v="252"/>
          <ac:spMkLst>
            <pc:docMk/>
            <pc:sldMk cId="4259977132" sldId="268"/>
            <ac:spMk id="8" creationId="{215CE58D-2739-522B-7C3A-6A7C985360C0}"/>
          </ac:spMkLst>
        </pc:spChg>
        <pc:graphicFrameChg chg="del modGraphic">
          <ac:chgData name="shirsendu maiti" userId="0e2676f6f36f958f" providerId="LiveId" clId="{41C84AA6-2991-4B1A-9F4C-3E5567D40617}" dt="2025-11-12T11:07:46.359" v="243" actId="478"/>
          <ac:graphicFrameMkLst>
            <pc:docMk/>
            <pc:sldMk cId="4259977132" sldId="268"/>
            <ac:graphicFrameMk id="3" creationId="{F01CF5D3-D3B1-1944-CFDF-D8EE11DE42AA}"/>
          </ac:graphicFrameMkLst>
        </pc:graphicFrameChg>
        <pc:picChg chg="add mod">
          <ac:chgData name="shirsendu maiti" userId="0e2676f6f36f958f" providerId="LiveId" clId="{41C84AA6-2991-4B1A-9F4C-3E5567D40617}" dt="2025-11-12T11:11:25.157" v="317" actId="14100"/>
          <ac:picMkLst>
            <pc:docMk/>
            <pc:sldMk cId="4259977132" sldId="268"/>
            <ac:picMk id="10" creationId="{D8B79693-F10D-CF78-8DE4-D925CC7AE0F9}"/>
          </ac:picMkLst>
        </pc:picChg>
        <pc:picChg chg="add mod">
          <ac:chgData name="shirsendu maiti" userId="0e2676f6f36f958f" providerId="LiveId" clId="{41C84AA6-2991-4B1A-9F4C-3E5567D40617}" dt="2025-11-12T11:11:29.767" v="319" actId="1076"/>
          <ac:picMkLst>
            <pc:docMk/>
            <pc:sldMk cId="4259977132" sldId="268"/>
            <ac:picMk id="12" creationId="{4B47CB4A-59FA-3FBD-33A1-BACEC5E3CA70}"/>
          </ac:picMkLst>
        </pc:picChg>
        <pc:picChg chg="add mod">
          <ac:chgData name="shirsendu maiti" userId="0e2676f6f36f958f" providerId="LiveId" clId="{41C84AA6-2991-4B1A-9F4C-3E5567D40617}" dt="2025-11-12T11:11:53.318" v="324" actId="1076"/>
          <ac:picMkLst>
            <pc:docMk/>
            <pc:sldMk cId="4259977132" sldId="268"/>
            <ac:picMk id="14" creationId="{3D3201E3-7D14-F9E6-3977-05999A0FB945}"/>
          </ac:picMkLst>
        </pc:picChg>
      </pc:sldChg>
      <pc:sldChg chg="modSp mod">
        <pc:chgData name="shirsendu maiti" userId="0e2676f6f36f958f" providerId="LiveId" clId="{41C84AA6-2991-4B1A-9F4C-3E5567D40617}" dt="2025-11-12T10:51:43.895" v="234" actId="255"/>
        <pc:sldMkLst>
          <pc:docMk/>
          <pc:sldMk cId="1649597717" sldId="277"/>
        </pc:sldMkLst>
        <pc:spChg chg="mod">
          <ac:chgData name="shirsendu maiti" userId="0e2676f6f36f958f" providerId="LiveId" clId="{41C84AA6-2991-4B1A-9F4C-3E5567D40617}" dt="2025-11-12T10:49:40.080" v="197" actId="14100"/>
          <ac:spMkLst>
            <pc:docMk/>
            <pc:sldMk cId="1649597717" sldId="277"/>
            <ac:spMk id="2" creationId="{338A15DE-D135-0710-9984-A0A55E960CB0}"/>
          </ac:spMkLst>
        </pc:spChg>
        <pc:spChg chg="mod">
          <ac:chgData name="shirsendu maiti" userId="0e2676f6f36f958f" providerId="LiveId" clId="{41C84AA6-2991-4B1A-9F4C-3E5567D40617}" dt="2025-11-12T10:51:43.895" v="234" actId="255"/>
          <ac:spMkLst>
            <pc:docMk/>
            <pc:sldMk cId="1649597717" sldId="277"/>
            <ac:spMk id="3" creationId="{ECC8AA23-D8D0-93BE-5C5F-103A750B0D2F}"/>
          </ac:spMkLst>
        </pc:spChg>
        <pc:picChg chg="mod">
          <ac:chgData name="shirsendu maiti" userId="0e2676f6f36f958f" providerId="LiveId" clId="{41C84AA6-2991-4B1A-9F4C-3E5567D40617}" dt="2025-11-12T10:50:36.858" v="208" actId="14100"/>
          <ac:picMkLst>
            <pc:docMk/>
            <pc:sldMk cId="1649597717" sldId="277"/>
            <ac:picMk id="15" creationId="{BBD84AA8-495D-1210-1B06-DA73C5BCF36A}"/>
          </ac:picMkLst>
        </pc:picChg>
      </pc:sldChg>
      <pc:sldChg chg="modSp mod">
        <pc:chgData name="shirsendu maiti" userId="0e2676f6f36f958f" providerId="LiveId" clId="{41C84AA6-2991-4B1A-9F4C-3E5567D40617}" dt="2025-11-12T11:28:05.559" v="477" actId="113"/>
        <pc:sldMkLst>
          <pc:docMk/>
          <pc:sldMk cId="2184472291" sldId="282"/>
        </pc:sldMkLst>
        <pc:spChg chg="mod">
          <ac:chgData name="shirsendu maiti" userId="0e2676f6f36f958f" providerId="LiveId" clId="{41C84AA6-2991-4B1A-9F4C-3E5567D40617}" dt="2025-11-12T11:27:48.596" v="473" actId="1076"/>
          <ac:spMkLst>
            <pc:docMk/>
            <pc:sldMk cId="2184472291" sldId="282"/>
            <ac:spMk id="7" creationId="{4AB1CD4B-2C7F-1593-8E69-B7450F3DCAD6}"/>
          </ac:spMkLst>
        </pc:spChg>
        <pc:spChg chg="mod">
          <ac:chgData name="shirsendu maiti" userId="0e2676f6f36f958f" providerId="LiveId" clId="{41C84AA6-2991-4B1A-9F4C-3E5567D40617}" dt="2025-11-12T11:28:05.559" v="477" actId="113"/>
          <ac:spMkLst>
            <pc:docMk/>
            <pc:sldMk cId="2184472291" sldId="282"/>
            <ac:spMk id="8" creationId="{86613063-168A-02B8-4326-BB842F3B83E2}"/>
          </ac:spMkLst>
        </pc:spChg>
      </pc:sldChg>
      <pc:sldChg chg="modSp mod">
        <pc:chgData name="shirsendu maiti" userId="0e2676f6f36f958f" providerId="LiveId" clId="{41C84AA6-2991-4B1A-9F4C-3E5567D40617}" dt="2025-11-12T10:52:31.410" v="236" actId="1076"/>
        <pc:sldMkLst>
          <pc:docMk/>
          <pc:sldMk cId="1672017990" sldId="284"/>
        </pc:sldMkLst>
        <pc:spChg chg="mod">
          <ac:chgData name="shirsendu maiti" userId="0e2676f6f36f958f" providerId="LiveId" clId="{41C84AA6-2991-4B1A-9F4C-3E5567D40617}" dt="2025-11-12T10:52:28.814" v="235" actId="14100"/>
          <ac:spMkLst>
            <pc:docMk/>
            <pc:sldMk cId="1672017990" sldId="284"/>
            <ac:spMk id="2" creationId="{081AD706-11EF-C258-EBD5-C4EEFEAACF16}"/>
          </ac:spMkLst>
        </pc:spChg>
        <pc:spChg chg="mod">
          <ac:chgData name="shirsendu maiti" userId="0e2676f6f36f958f" providerId="LiveId" clId="{41C84AA6-2991-4B1A-9F4C-3E5567D40617}" dt="2025-11-12T10:52:31.410" v="236" actId="1076"/>
          <ac:spMkLst>
            <pc:docMk/>
            <pc:sldMk cId="1672017990" sldId="284"/>
            <ac:spMk id="3" creationId="{992EC4A8-49EE-CF82-CFDC-BA9308ED0D65}"/>
          </ac:spMkLst>
        </pc:spChg>
      </pc:sldChg>
      <pc:sldChg chg="addSp delSp modSp mod">
        <pc:chgData name="shirsendu maiti" userId="0e2676f6f36f958f" providerId="LiveId" clId="{41C84AA6-2991-4B1A-9F4C-3E5567D40617}" dt="2025-11-12T11:34:19.246" v="548"/>
        <pc:sldMkLst>
          <pc:docMk/>
          <pc:sldMk cId="4233691277" sldId="292"/>
        </pc:sldMkLst>
        <pc:spChg chg="mod">
          <ac:chgData name="shirsendu maiti" userId="0e2676f6f36f958f" providerId="LiveId" clId="{41C84AA6-2991-4B1A-9F4C-3E5567D40617}" dt="2025-11-12T11:32:47.776" v="516" actId="313"/>
          <ac:spMkLst>
            <pc:docMk/>
            <pc:sldMk cId="4233691277" sldId="292"/>
            <ac:spMk id="2" creationId="{9760FE33-53A6-E75A-9BA0-8B7B1BFDD51E}"/>
          </ac:spMkLst>
        </pc:spChg>
        <pc:spChg chg="add del mod">
          <ac:chgData name="shirsendu maiti" userId="0e2676f6f36f958f" providerId="LiveId" clId="{41C84AA6-2991-4B1A-9F4C-3E5567D40617}" dt="2025-11-12T11:15:02.051" v="341" actId="478"/>
          <ac:spMkLst>
            <pc:docMk/>
            <pc:sldMk cId="4233691277" sldId="292"/>
            <ac:spMk id="4" creationId="{340880F5-6C3B-FABA-E15E-66647BFB74C0}"/>
          </ac:spMkLst>
        </pc:spChg>
        <pc:spChg chg="add">
          <ac:chgData name="shirsendu maiti" userId="0e2676f6f36f958f" providerId="LiveId" clId="{41C84AA6-2991-4B1A-9F4C-3E5567D40617}" dt="2025-11-12T11:18:01.830" v="343"/>
          <ac:spMkLst>
            <pc:docMk/>
            <pc:sldMk cId="4233691277" sldId="292"/>
            <ac:spMk id="5" creationId="{0ACD852E-21B1-B620-990B-7E3C4E0B8EFA}"/>
          </ac:spMkLst>
        </pc:spChg>
        <pc:spChg chg="add mod">
          <ac:chgData name="shirsendu maiti" userId="0e2676f6f36f958f" providerId="LiveId" clId="{41C84AA6-2991-4B1A-9F4C-3E5567D40617}" dt="2025-11-12T11:34:19.246" v="548"/>
          <ac:spMkLst>
            <pc:docMk/>
            <pc:sldMk cId="4233691277" sldId="292"/>
            <ac:spMk id="6" creationId="{474F9319-D7CD-3322-183B-A05A3E88F207}"/>
          </ac:spMkLst>
        </pc:spChg>
        <pc:spChg chg="add">
          <ac:chgData name="shirsendu maiti" userId="0e2676f6f36f958f" providerId="LiveId" clId="{41C84AA6-2991-4B1A-9F4C-3E5567D40617}" dt="2025-11-12T11:31:37.157" v="498"/>
          <ac:spMkLst>
            <pc:docMk/>
            <pc:sldMk cId="4233691277" sldId="292"/>
            <ac:spMk id="7" creationId="{17826D79-E40E-DF52-594B-7A44F3EE6633}"/>
          </ac:spMkLst>
        </pc:spChg>
        <pc:graphicFrameChg chg="del">
          <ac:chgData name="shirsendu maiti" userId="0e2676f6f36f958f" providerId="LiveId" clId="{41C84AA6-2991-4B1A-9F4C-3E5567D40617}" dt="2025-11-12T11:14:59.710" v="340" actId="478"/>
          <ac:graphicFrameMkLst>
            <pc:docMk/>
            <pc:sldMk cId="4233691277" sldId="292"/>
            <ac:graphicFrameMk id="12" creationId="{CB65501E-A327-D358-9D08-A3694677266E}"/>
          </ac:graphicFrameMkLst>
        </pc:graphicFrameChg>
      </pc:sldChg>
      <pc:sldChg chg="addSp delSp modSp mod modClrScheme chgLayout">
        <pc:chgData name="shirsendu maiti" userId="0e2676f6f36f958f" providerId="LiveId" clId="{41C84AA6-2991-4B1A-9F4C-3E5567D40617}" dt="2025-11-12T10:26:01.389" v="38" actId="962"/>
        <pc:sldMkLst>
          <pc:docMk/>
          <pc:sldMk cId="2513013121" sldId="293"/>
        </pc:sldMkLst>
        <pc:spChg chg="mod">
          <ac:chgData name="shirsendu maiti" userId="0e2676f6f36f958f" providerId="LiveId" clId="{41C84AA6-2991-4B1A-9F4C-3E5567D40617}" dt="2025-11-12T10:15:21.259" v="33" actId="113"/>
          <ac:spMkLst>
            <pc:docMk/>
            <pc:sldMk cId="2513013121" sldId="293"/>
            <ac:spMk id="2" creationId="{4DF69231-07CD-2992-23F0-5833266F929B}"/>
          </ac:spMkLst>
        </pc:spChg>
        <pc:spChg chg="del">
          <ac:chgData name="shirsendu maiti" userId="0e2676f6f36f958f" providerId="LiveId" clId="{41C84AA6-2991-4B1A-9F4C-3E5567D40617}" dt="2025-11-12T10:12:05.932" v="6" actId="931"/>
          <ac:spMkLst>
            <pc:docMk/>
            <pc:sldMk cId="2513013121" sldId="293"/>
            <ac:spMk id="3" creationId="{4522734E-D165-4492-A450-33413DE77282}"/>
          </ac:spMkLst>
        </pc:spChg>
        <pc:spChg chg="del">
          <ac:chgData name="shirsendu maiti" userId="0e2676f6f36f958f" providerId="LiveId" clId="{41C84AA6-2991-4B1A-9F4C-3E5567D40617}" dt="2025-11-12T10:12:42.265" v="9"/>
          <ac:spMkLst>
            <pc:docMk/>
            <pc:sldMk cId="2513013121" sldId="293"/>
            <ac:spMk id="4" creationId="{D75E96E9-EFA4-D042-93D5-A361BE786BB7}"/>
          </ac:spMkLst>
        </pc:spChg>
        <pc:spChg chg="add mod">
          <ac:chgData name="shirsendu maiti" userId="0e2676f6f36f958f" providerId="LiveId" clId="{41C84AA6-2991-4B1A-9F4C-3E5567D40617}" dt="2025-11-12T10:14:21.130" v="28" actId="1076"/>
          <ac:spMkLst>
            <pc:docMk/>
            <pc:sldMk cId="2513013121" sldId="293"/>
            <ac:spMk id="7" creationId="{EE79751C-DFAB-B436-1FAB-D39DD575EA5D}"/>
          </ac:spMkLst>
        </pc:spChg>
        <pc:spChg chg="add del mod">
          <ac:chgData name="shirsendu maiti" userId="0e2676f6f36f958f" providerId="LiveId" clId="{41C84AA6-2991-4B1A-9F4C-3E5567D40617}" dt="2025-11-12T10:25:59.784" v="36"/>
          <ac:spMkLst>
            <pc:docMk/>
            <pc:sldMk cId="2513013121" sldId="293"/>
            <ac:spMk id="9" creationId="{796231CF-3924-5D65-14C4-15847CFB9A09}"/>
          </ac:spMkLst>
        </pc:spChg>
        <pc:picChg chg="add del mod ord">
          <ac:chgData name="shirsendu maiti" userId="0e2676f6f36f958f" providerId="LiveId" clId="{41C84AA6-2991-4B1A-9F4C-3E5567D40617}" dt="2025-11-12T10:25:59.055" v="35" actId="478"/>
          <ac:picMkLst>
            <pc:docMk/>
            <pc:sldMk cId="2513013121" sldId="293"/>
            <ac:picMk id="6" creationId="{57D2420A-E55E-BCBC-D474-F7400144E465}"/>
          </ac:picMkLst>
        </pc:picChg>
        <pc:picChg chg="add mod">
          <ac:chgData name="shirsendu maiti" userId="0e2676f6f36f958f" providerId="LiveId" clId="{41C84AA6-2991-4B1A-9F4C-3E5567D40617}" dt="2025-11-12T10:26:01.389" v="38" actId="962"/>
          <ac:picMkLst>
            <pc:docMk/>
            <pc:sldMk cId="2513013121" sldId="293"/>
            <ac:picMk id="11" creationId="{80669D5D-8023-F115-5B10-A076732669CF}"/>
          </ac:picMkLst>
        </pc:picChg>
      </pc:sldChg>
      <pc:sldChg chg="addSp delSp modSp new mod">
        <pc:chgData name="shirsendu maiti" userId="0e2676f6f36f958f" providerId="LiveId" clId="{41C84AA6-2991-4B1A-9F4C-3E5567D40617}" dt="2025-11-12T12:29:46.556" v="565" actId="20577"/>
        <pc:sldMkLst>
          <pc:docMk/>
          <pc:sldMk cId="2838056290" sldId="294"/>
        </pc:sldMkLst>
        <pc:spChg chg="mod">
          <ac:chgData name="shirsendu maiti" userId="0e2676f6f36f958f" providerId="LiveId" clId="{41C84AA6-2991-4B1A-9F4C-3E5567D40617}" dt="2025-11-12T10:31:50.220" v="79" actId="1076"/>
          <ac:spMkLst>
            <pc:docMk/>
            <pc:sldMk cId="2838056290" sldId="294"/>
            <ac:spMk id="2" creationId="{8F95A8A3-89E0-EF78-01F8-63495D813FDC}"/>
          </ac:spMkLst>
        </pc:spChg>
        <pc:spChg chg="del mod">
          <ac:chgData name="shirsendu maiti" userId="0e2676f6f36f958f" providerId="LiveId" clId="{41C84AA6-2991-4B1A-9F4C-3E5567D40617}" dt="2025-11-12T10:29:59.311" v="41"/>
          <ac:spMkLst>
            <pc:docMk/>
            <pc:sldMk cId="2838056290" sldId="294"/>
            <ac:spMk id="3" creationId="{B590FD57-8103-3BA7-A6C4-F620C2ABE105}"/>
          </ac:spMkLst>
        </pc:spChg>
        <pc:spChg chg="del">
          <ac:chgData name="shirsendu maiti" userId="0e2676f6f36f958f" providerId="LiveId" clId="{41C84AA6-2991-4B1A-9F4C-3E5567D40617}" dt="2025-11-12T10:30:18.479" v="43" actId="478"/>
          <ac:spMkLst>
            <pc:docMk/>
            <pc:sldMk cId="2838056290" sldId="294"/>
            <ac:spMk id="4" creationId="{3A66ECF8-0E8B-9F6F-F22C-6944BE994FF0}"/>
          </ac:spMkLst>
        </pc:spChg>
        <pc:spChg chg="add mod">
          <ac:chgData name="shirsendu maiti" userId="0e2676f6f36f958f" providerId="LiveId" clId="{41C84AA6-2991-4B1A-9F4C-3E5567D40617}" dt="2025-11-12T12:29:46.556" v="565" actId="20577"/>
          <ac:spMkLst>
            <pc:docMk/>
            <pc:sldMk cId="2838056290" sldId="294"/>
            <ac:spMk id="5" creationId="{D76E34F3-AB1E-46EE-A845-BB9BB79B4750}"/>
          </ac:spMkLst>
        </pc:spChg>
        <pc:picChg chg="add mod modCrop">
          <ac:chgData name="shirsendu maiti" userId="0e2676f6f36f958f" providerId="LiveId" clId="{41C84AA6-2991-4B1A-9F4C-3E5567D40617}" dt="2025-11-12T10:33:31.151" v="88" actId="1076"/>
          <ac:picMkLst>
            <pc:docMk/>
            <pc:sldMk cId="2838056290" sldId="294"/>
            <ac:picMk id="7" creationId="{036AF0BD-0724-9C64-F882-569D2ACA1811}"/>
          </ac:picMkLst>
        </pc:picChg>
      </pc:sldChg>
      <pc:sldChg chg="addSp delSp modSp new mod modClrScheme chgLayout">
        <pc:chgData name="shirsendu maiti" userId="0e2676f6f36f958f" providerId="LiveId" clId="{41C84AA6-2991-4B1A-9F4C-3E5567D40617}" dt="2025-11-12T10:42:19.618" v="148" actId="20577"/>
        <pc:sldMkLst>
          <pc:docMk/>
          <pc:sldMk cId="390798922" sldId="295"/>
        </pc:sldMkLst>
        <pc:spChg chg="mod">
          <ac:chgData name="shirsendu maiti" userId="0e2676f6f36f958f" providerId="LiveId" clId="{41C84AA6-2991-4B1A-9F4C-3E5567D40617}" dt="2025-11-12T10:42:02.529" v="143" actId="26606"/>
          <ac:spMkLst>
            <pc:docMk/>
            <pc:sldMk cId="390798922" sldId="295"/>
            <ac:spMk id="2" creationId="{947FB0B3-37AA-7327-1E05-2D0A3ECF9506}"/>
          </ac:spMkLst>
        </pc:spChg>
        <pc:spChg chg="del">
          <ac:chgData name="shirsendu maiti" userId="0e2676f6f36f958f" providerId="LiveId" clId="{41C84AA6-2991-4B1A-9F4C-3E5567D40617}" dt="2025-11-12T10:41:25.445" v="135" actId="931"/>
          <ac:spMkLst>
            <pc:docMk/>
            <pc:sldMk cId="390798922" sldId="295"/>
            <ac:spMk id="3" creationId="{6A5C0330-6BE5-A328-1FEE-00D781EE9CA7}"/>
          </ac:spMkLst>
        </pc:spChg>
        <pc:spChg chg="mod">
          <ac:chgData name="shirsendu maiti" userId="0e2676f6f36f958f" providerId="LiveId" clId="{41C84AA6-2991-4B1A-9F4C-3E5567D40617}" dt="2025-11-12T10:42:19.618" v="148" actId="20577"/>
          <ac:spMkLst>
            <pc:docMk/>
            <pc:sldMk cId="390798922" sldId="295"/>
            <ac:spMk id="4" creationId="{E8E7FA1C-5D9A-DB75-F9B0-6FE2B7B13ED4}"/>
          </ac:spMkLst>
        </pc:spChg>
        <pc:picChg chg="add mod ord">
          <ac:chgData name="shirsendu maiti" userId="0e2676f6f36f958f" providerId="LiveId" clId="{41C84AA6-2991-4B1A-9F4C-3E5567D40617}" dt="2025-11-12T10:42:02.529" v="143" actId="26606"/>
          <ac:picMkLst>
            <pc:docMk/>
            <pc:sldMk cId="390798922" sldId="295"/>
            <ac:picMk id="6" creationId="{FBFD0C50-5EEE-C9C3-1716-220DDAE29596}"/>
          </ac:picMkLst>
        </pc:picChg>
      </pc:sldChg>
      <pc:sldChg chg="addSp delSp modSp new mod">
        <pc:chgData name="shirsendu maiti" userId="0e2676f6f36f958f" providerId="LiveId" clId="{41C84AA6-2991-4B1A-9F4C-3E5567D40617}" dt="2025-11-12T12:44:51.889" v="604" actId="113"/>
        <pc:sldMkLst>
          <pc:docMk/>
          <pc:sldMk cId="3401909973" sldId="296"/>
        </pc:sldMkLst>
        <pc:spChg chg="mod">
          <ac:chgData name="shirsendu maiti" userId="0e2676f6f36f958f" providerId="LiveId" clId="{41C84AA6-2991-4B1A-9F4C-3E5567D40617}" dt="2025-11-12T12:41:34.021" v="569" actId="113"/>
          <ac:spMkLst>
            <pc:docMk/>
            <pc:sldMk cId="3401909973" sldId="296"/>
            <ac:spMk id="2" creationId="{1BF9DD4D-4EF4-EE84-16CB-D4F50127500B}"/>
          </ac:spMkLst>
        </pc:spChg>
        <pc:spChg chg="del">
          <ac:chgData name="shirsendu maiti" userId="0e2676f6f36f958f" providerId="LiveId" clId="{41C84AA6-2991-4B1A-9F4C-3E5567D40617}" dt="2025-11-12T12:41:46.316" v="570" actId="931"/>
          <ac:spMkLst>
            <pc:docMk/>
            <pc:sldMk cId="3401909973" sldId="296"/>
            <ac:spMk id="3" creationId="{7FB72774-A77E-036F-98C2-ADFC5E6F5450}"/>
          </ac:spMkLst>
        </pc:spChg>
        <pc:spChg chg="mod">
          <ac:chgData name="shirsendu maiti" userId="0e2676f6f36f958f" providerId="LiveId" clId="{41C84AA6-2991-4B1A-9F4C-3E5567D40617}" dt="2025-11-12T12:44:51.889" v="604" actId="113"/>
          <ac:spMkLst>
            <pc:docMk/>
            <pc:sldMk cId="3401909973" sldId="296"/>
            <ac:spMk id="4" creationId="{769F9B4A-DBD8-4382-0C2B-7C976F21AA94}"/>
          </ac:spMkLst>
        </pc:spChg>
        <pc:picChg chg="add mod">
          <ac:chgData name="shirsendu maiti" userId="0e2676f6f36f958f" providerId="LiveId" clId="{41C84AA6-2991-4B1A-9F4C-3E5567D40617}" dt="2025-11-12T12:41:58.166" v="578" actId="14100"/>
          <ac:picMkLst>
            <pc:docMk/>
            <pc:sldMk cId="3401909973" sldId="296"/>
            <ac:picMk id="6" creationId="{82DB70DA-EE5A-056D-CAFA-3BE84604502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23A35-1FA6-84F9-C9C9-8EFD760A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CDB01-A300-500A-E9FF-5021D5B21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90371-6E13-9BA6-3274-E7DFC0AA8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D689E-823E-FB48-22C9-BEE63C553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94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39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501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4317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9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13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3874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6319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71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74E77-8F7F-C091-A6CD-F95913330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FF8D03-BCD3-2516-5A17-7890FD56F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43AAD0-5D1A-5384-531C-8A99D3C155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54F1F-92BA-AFB1-9D22-E7208D0FE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273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hysionet.org/content/challenge-2019/1.0.0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bstract image">
            <a:extLst>
              <a:ext uri="{FF2B5EF4-FFF2-40B4-BE49-F238E27FC236}">
                <a16:creationId xmlns:a16="http://schemas.microsoft.com/office/drawing/2014/main" id="{782ED2F6-AFB3-9199-3999-2B5E4BAF24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-1" y="0"/>
            <a:ext cx="12192000" cy="685800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43000"/>
            <a:ext cx="9144000" cy="2286000"/>
          </a:xfrm>
        </p:spPr>
        <p:txBody>
          <a:bodyPr/>
          <a:lstStyle/>
          <a:p>
            <a:r>
              <a:rPr lang="en-US" sz="3000" b="1" dirty="0"/>
              <a:t>Sepsis Early Warning System: A Capstone Project</a:t>
            </a:r>
            <a:br>
              <a:rPr lang="en-US" sz="3000" b="1" dirty="0"/>
            </a:br>
            <a:br>
              <a:rPr lang="en-US" sz="3000" b="1" dirty="0"/>
            </a:br>
            <a:r>
              <a:rPr lang="en-US" sz="1100" dirty="0"/>
              <a:t>Predicting Sepsis 6 Hours in Advance Using ICU Time-Series Data</a:t>
            </a:r>
            <a:endParaRPr lang="en-US" sz="1100" b="1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4B9E025-45A3-6E45-9356-4A557A31E518}"/>
              </a:ext>
            </a:extLst>
          </p:cNvPr>
          <p:cNvSpPr txBox="1">
            <a:spLocks/>
          </p:cNvSpPr>
          <p:nvPr/>
        </p:nvSpPr>
        <p:spPr>
          <a:xfrm>
            <a:off x="2526955" y="4234784"/>
            <a:ext cx="7138087" cy="908716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en-US" dirty="0"/>
              <a:t>                          </a:t>
            </a:r>
            <a:r>
              <a:rPr lang="en-US" dirty="0">
                <a:solidFill>
                  <a:schemeClr val="bg1"/>
                </a:solidFill>
              </a:rPr>
              <a:t>Shirsendu Maiti| MS-BANA Capstone Project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pc="80" dirty="0">
                <a:solidFill>
                  <a:schemeClr val="bg2"/>
                </a:solidFill>
              </a:rPr>
              <a:t>	            First Reader: </a:t>
            </a:r>
            <a:r>
              <a:rPr lang="en-US" b="1" spc="80" dirty="0">
                <a:solidFill>
                  <a:schemeClr val="bg2"/>
                </a:solidFill>
              </a:rPr>
              <a:t>Prof. Sachin Modi</a:t>
            </a:r>
            <a:br>
              <a:rPr lang="en-US" spc="80" dirty="0">
                <a:solidFill>
                  <a:schemeClr val="bg2"/>
                </a:solidFill>
              </a:rPr>
            </a:br>
            <a:r>
              <a:rPr lang="en-US" spc="80" dirty="0">
                <a:solidFill>
                  <a:schemeClr val="bg2"/>
                </a:solidFill>
              </a:rPr>
              <a:t>	            Second Reader:</a:t>
            </a:r>
            <a:endParaRPr lang="en-US" b="1" spc="8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5C36-617B-795C-5A2B-325EA34F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AD706-11EF-C258-EBD5-C4EEFEAA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688594"/>
          </a:xfrm>
        </p:spPr>
        <p:txBody>
          <a:bodyPr anchor="b">
            <a:normAutofit/>
          </a:bodyPr>
          <a:lstStyle/>
          <a:p>
            <a:r>
              <a:rPr lang="en-US" b="1" dirty="0"/>
              <a:t>The Sepsis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EC4A8-49EE-CF82-CFDC-BA9308ED0D6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2932" y="1653813"/>
            <a:ext cx="6662738" cy="3904906"/>
          </a:xfrm>
        </p:spPr>
        <p:txBody>
          <a:bodyPr>
            <a:normAutofit lnSpcReduction="10000"/>
          </a:bodyPr>
          <a:lstStyle/>
          <a:p>
            <a:r>
              <a:rPr lang="en-US" sz="1500" dirty="0"/>
              <a:t>                                    </a:t>
            </a:r>
            <a:r>
              <a:rPr lang="en-US" sz="2400" b="1" dirty="0"/>
              <a:t>The Problem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5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Sepsis is a life-threatening, overwhelming response by the body to an infection.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It's a leading cause of hospital mortality. Every hour of delayed treatment drastically increases a patient's risk of death.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Goal: Move from </a:t>
            </a:r>
            <a:r>
              <a:rPr lang="en-US" i="1" dirty="0"/>
              <a:t>detection</a:t>
            </a:r>
            <a:r>
              <a:rPr lang="en-US" dirty="0"/>
              <a:t> to prediction. We need an </a:t>
            </a:r>
            <a:r>
              <a:rPr lang="en-US" b="1" i="1" dirty="0"/>
              <a:t>early warning</a:t>
            </a:r>
            <a:r>
              <a:rPr lang="en-US" dirty="0"/>
              <a:t>, not an "on-time" alarm.</a:t>
            </a:r>
          </a:p>
          <a:p>
            <a:endParaRPr lang="en-US" sz="1500" dirty="0"/>
          </a:p>
          <a:p>
            <a:endParaRPr lang="en-US" sz="1500" b="1" dirty="0"/>
          </a:p>
          <a:p>
            <a:endParaRPr lang="en-US" sz="1500" b="1" dirty="0"/>
          </a:p>
          <a:p>
            <a:r>
              <a:rPr lang="en-US" b="1" dirty="0"/>
              <a:t>Project Objective: Predict sepsis 6 hours in advance.</a:t>
            </a:r>
          </a:p>
        </p:txBody>
      </p:sp>
      <p:pic>
        <p:nvPicPr>
          <p:cNvPr id="8" name="Picture Placeholder 7" descr="A medical symbol with wings and a globe&#10;&#10;AI-generated content may be incorrect.">
            <a:extLst>
              <a:ext uri="{FF2B5EF4-FFF2-40B4-BE49-F238E27FC236}">
                <a16:creationId xmlns:a16="http://schemas.microsoft.com/office/drawing/2014/main" id="{57CDB914-E418-08A7-58BD-8AF8F6A0834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97" r="17477" b="3"/>
          <a:stretch>
            <a:fillRect/>
          </a:stretch>
        </p:blipFill>
        <p:spPr>
          <a:xfrm>
            <a:off x="7500938" y="91245"/>
            <a:ext cx="4574587" cy="6675509"/>
          </a:xfrm>
          <a:noFill/>
        </p:spPr>
      </p:pic>
    </p:spTree>
    <p:extLst>
      <p:ext uri="{BB962C8B-B14F-4D97-AF65-F5344CB8AC3E}">
        <p14:creationId xmlns:p14="http://schemas.microsoft.com/office/powerpoint/2010/main" val="167201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>
            <a:normAutofit/>
          </a:bodyPr>
          <a:lstStyle/>
          <a:p>
            <a:r>
              <a:rPr lang="en-US" b="1" dirty="0"/>
              <a:t>The Data: PhysioNet/Computing in Cardiology Challenge 2019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1" y="2625363"/>
            <a:ext cx="4894006" cy="314678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/>
              <a:t>Source:</a:t>
            </a:r>
            <a:r>
              <a:rPr lang="en-US" dirty="0"/>
              <a:t> Real-world ICU data from over 40,000 patients.</a:t>
            </a:r>
          </a:p>
          <a:p>
            <a:r>
              <a:rPr lang="en-US" b="1" dirty="0"/>
              <a:t>Size:</a:t>
            </a:r>
            <a:r>
              <a:rPr lang="en-US" dirty="0"/>
              <a:t> </a:t>
            </a:r>
            <a:r>
              <a:rPr lang="en-US" b="1" dirty="0"/>
              <a:t>1.24+ million</a:t>
            </a:r>
            <a:r>
              <a:rPr lang="en-US" dirty="0"/>
              <a:t> total patient-hours of observations.</a:t>
            </a:r>
          </a:p>
          <a:p>
            <a:r>
              <a:rPr lang="en-US" b="1" dirty="0"/>
              <a:t>Features:</a:t>
            </a:r>
            <a:r>
              <a:rPr lang="en-US" dirty="0"/>
              <a:t> 40 vital signs &amp; lab values (HR, Temp, Lactate, WBC, etc.).</a:t>
            </a:r>
          </a:p>
          <a:p>
            <a:r>
              <a:rPr lang="en-US" b="1" dirty="0"/>
              <a:t>The Challenge:</a:t>
            </a:r>
            <a:r>
              <a:rPr lang="en-US" dirty="0"/>
              <a:t> Massive missing values (</a:t>
            </a:r>
            <a:r>
              <a:rPr lang="en-US" dirty="0" err="1"/>
              <a:t>NaNs</a:t>
            </a:r>
            <a:r>
              <a:rPr lang="en-US" dirty="0"/>
              <a:t>) and extreme class imbalance.</a:t>
            </a:r>
          </a:p>
        </p:txBody>
      </p:sp>
      <p:pic>
        <p:nvPicPr>
          <p:cNvPr id="7" name="Picture Placeholder 6" descr="A white brain with a map and diagrams&#10;&#10;AI-generated content may be incorrect.">
            <a:extLst>
              <a:ext uri="{FF2B5EF4-FFF2-40B4-BE49-F238E27FC236}">
                <a16:creationId xmlns:a16="http://schemas.microsoft.com/office/drawing/2014/main" id="{C574FCAE-200B-1AF6-5DDC-F3A14C3894F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36" r="15736"/>
          <a:stretch/>
        </p:blipFill>
        <p:spPr>
          <a:xfrm>
            <a:off x="7567685" y="119692"/>
            <a:ext cx="4535606" cy="6618616"/>
          </a:xfrm>
          <a:noFill/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61999"/>
            <a:ext cx="6248400" cy="1003300"/>
          </a:xfrm>
          <a:noFill/>
        </p:spPr>
        <p:txBody>
          <a:bodyPr>
            <a:noAutofit/>
          </a:bodyPr>
          <a:lstStyle/>
          <a:p>
            <a:r>
              <a:rPr lang="en-US" b="1" dirty="0"/>
              <a:t>Methodology: Building the Data Pipeline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9C373000-EEA1-D16F-189A-338FFDA2E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9750" y="5405120"/>
            <a:ext cx="5066250" cy="690880"/>
          </a:xfrm>
        </p:spPr>
        <p:txBody>
          <a:bodyPr/>
          <a:lstStyle/>
          <a:p>
            <a:r>
              <a:rPr lang="en-US" dirty="0"/>
              <a:t>Part 1 - Data 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3BA1D3-B0D9-DD75-5214-6C46B5CE9513}"/>
              </a:ext>
            </a:extLst>
          </p:cNvPr>
          <p:cNvSpPr txBox="1"/>
          <p:nvPr/>
        </p:nvSpPr>
        <p:spPr>
          <a:xfrm>
            <a:off x="66511" y="2292548"/>
            <a:ext cx="665512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Step 1: Imputation:</a:t>
            </a:r>
            <a:r>
              <a:rPr lang="en-US" dirty="0"/>
              <a:t> Filled all missing values (</a:t>
            </a:r>
            <a:r>
              <a:rPr lang="en-US" dirty="0" err="1"/>
              <a:t>NaNs</a:t>
            </a:r>
            <a:r>
              <a:rPr lang="en-US" dirty="0"/>
              <a:t>) using 'forward-fill' (</a:t>
            </a:r>
            <a:r>
              <a:rPr lang="en-US" dirty="0" err="1"/>
              <a:t>ffill</a:t>
            </a:r>
            <a:r>
              <a:rPr lang="en-US" dirty="0"/>
              <a:t>). This assumes a patient's last-known vital sign is stable until a new one is taken.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Step 2: Train/Test Split:</a:t>
            </a:r>
            <a:r>
              <a:rPr lang="en-US" dirty="0"/>
              <a:t> This is a critical step.</a:t>
            </a:r>
          </a:p>
          <a:p>
            <a:r>
              <a:rPr lang="en-US" b="1" dirty="0"/>
              <a:t>          -Method:</a:t>
            </a:r>
            <a:r>
              <a:rPr lang="en-US" dirty="0"/>
              <a:t> Split by </a:t>
            </a:r>
            <a:r>
              <a:rPr lang="en-US" b="1" dirty="0" err="1"/>
              <a:t>patient_id</a:t>
            </a:r>
            <a:r>
              <a:rPr lang="en-US" dirty="0"/>
              <a:t>, not by row.</a:t>
            </a:r>
          </a:p>
          <a:p>
            <a:r>
              <a:rPr lang="en-US" b="1" dirty="0"/>
              <a:t>          -Why?</a:t>
            </a:r>
            <a:r>
              <a:rPr lang="en-US" dirty="0"/>
              <a:t> To prevent </a:t>
            </a:r>
            <a:r>
              <a:rPr lang="en-US" b="1" dirty="0"/>
              <a:t>data leakage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ensures the model is tested </a:t>
            </a:r>
            <a:r>
              <a:rPr lang="en-US" i="1" dirty="0"/>
              <a:t>only</a:t>
            </a:r>
            <a:r>
              <a:rPr lang="en-US" dirty="0"/>
              <a:t> on patients it has never seen before, giving an honest performance score.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9" name="Picture 28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DDC5F5D6-F397-1748-C336-DAD8B584B8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96" t="-652" b="8189"/>
          <a:stretch>
            <a:fillRect/>
          </a:stretch>
        </p:blipFill>
        <p:spPr>
          <a:xfrm>
            <a:off x="7037177" y="103210"/>
            <a:ext cx="5032768" cy="654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43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150" y="1074023"/>
            <a:ext cx="6356350" cy="590550"/>
          </a:xfrm>
          <a:noFill/>
        </p:spPr>
        <p:txBody>
          <a:bodyPr/>
          <a:lstStyle/>
          <a:p>
            <a:r>
              <a:rPr lang="en-US" sz="3200" b="1" dirty="0"/>
              <a:t>Methodology: The "Sliding Window"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A336FEA9-C85A-3569-16F0-5ECBABBE0B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4550" y="5678363"/>
            <a:ext cx="5518150" cy="683219"/>
          </a:xfrm>
        </p:spPr>
        <p:txBody>
          <a:bodyPr/>
          <a:lstStyle/>
          <a:p>
            <a:r>
              <a:rPr lang="en-US" dirty="0"/>
              <a:t>Part 2 - Feature Engineering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CC0F2E-BC78-23A4-E062-73571AAD270A}"/>
              </a:ext>
            </a:extLst>
          </p:cNvPr>
          <p:cNvSpPr txBox="1"/>
          <p:nvPr/>
        </p:nvSpPr>
        <p:spPr>
          <a:xfrm>
            <a:off x="311150" y="2457450"/>
            <a:ext cx="74993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The "Lookback" (Features X):</a:t>
            </a:r>
            <a:endParaRPr lang="en-US" dirty="0"/>
          </a:p>
          <a:p>
            <a:r>
              <a:rPr lang="en-US" dirty="0"/>
              <a:t>     Calculated 12-hour rolling trends (mean, max, std) for all 34 vitals.</a:t>
            </a:r>
          </a:p>
          <a:p>
            <a:r>
              <a:rPr lang="en-US" dirty="0"/>
              <a:t>     Result: </a:t>
            </a:r>
            <a:r>
              <a:rPr lang="en-US" b="1" dirty="0"/>
              <a:t>107 new features</a:t>
            </a:r>
            <a:r>
              <a:rPr lang="en-US" dirty="0"/>
              <a:t> (e.g., HR_mean_12hr, Lactate_max_12hr).</a:t>
            </a:r>
          </a:p>
          <a:p>
            <a:endParaRPr lang="en-US" dirty="0"/>
          </a:p>
          <a:p>
            <a:r>
              <a:rPr lang="en-US" b="1" dirty="0"/>
              <a:t>2. The "Lookahead" (Target y):</a:t>
            </a:r>
            <a:endParaRPr lang="en-US" dirty="0"/>
          </a:p>
          <a:p>
            <a:r>
              <a:rPr lang="en-US" dirty="0"/>
              <a:t>      Changed the question from "Is the patient septic </a:t>
            </a:r>
            <a:r>
              <a:rPr lang="en-US" i="1" dirty="0"/>
              <a:t>now</a:t>
            </a:r>
            <a:r>
              <a:rPr lang="en-US" dirty="0"/>
              <a:t>?"</a:t>
            </a:r>
          </a:p>
          <a:p>
            <a:r>
              <a:rPr lang="en-US" dirty="0"/>
              <a:t>      to "Will the patient be septic in the </a:t>
            </a:r>
            <a:r>
              <a:rPr lang="en-US" i="1" dirty="0"/>
              <a:t>next 6 hours</a:t>
            </a:r>
            <a:r>
              <a:rPr lang="en-US" dirty="0"/>
              <a:t>?"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706305CE-5A12-EDB3-25E0-3FD24BF3C2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82" b="8822"/>
          <a:stretch>
            <a:fillRect/>
          </a:stretch>
        </p:blipFill>
        <p:spPr>
          <a:xfrm>
            <a:off x="7251700" y="1473199"/>
            <a:ext cx="4845050" cy="4083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936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450" y="236446"/>
            <a:ext cx="7626350" cy="749097"/>
          </a:xfrm>
          <a:noFill/>
        </p:spPr>
        <p:txBody>
          <a:bodyPr anchor="ctr"/>
          <a:lstStyle/>
          <a:p>
            <a:r>
              <a:rPr lang="en-US" b="1" dirty="0"/>
              <a:t>Model Selection &amp;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8450" y="1315964"/>
            <a:ext cx="5662928" cy="1404218"/>
          </a:xfrm>
          <a:noFill/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Baseline:</a:t>
            </a:r>
            <a:r>
              <a:rPr lang="it-IT" dirty="0"/>
              <a:t> </a:t>
            </a:r>
            <a:r>
              <a:rPr lang="it-IT" b="1" dirty="0"/>
              <a:t>Logistic Regression</a:t>
            </a:r>
            <a:r>
              <a:rPr lang="it-IT" dirty="0"/>
              <a:t> (A simple, interpretable statistical model).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Challenger:</a:t>
            </a:r>
            <a:r>
              <a:rPr lang="en-US" dirty="0"/>
              <a:t> </a:t>
            </a:r>
            <a:r>
              <a:rPr lang="en-US" b="1" dirty="0" err="1"/>
              <a:t>XGBoost</a:t>
            </a:r>
            <a:r>
              <a:rPr lang="en-US" dirty="0"/>
              <a:t> (A powerful, industry-standard model that finds complex, non-linear patterns).</a:t>
            </a:r>
            <a:endParaRPr lang="it-IT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8450" y="2720182"/>
            <a:ext cx="6635750" cy="2782170"/>
          </a:xfrm>
          <a:noFill/>
        </p:spPr>
        <p:txBody>
          <a:bodyPr>
            <a:normAutofit/>
          </a:bodyPr>
          <a:lstStyle/>
          <a:p>
            <a:r>
              <a:rPr lang="en-US" b="1" dirty="0"/>
              <a:t>Process:</a:t>
            </a:r>
          </a:p>
          <a:p>
            <a:r>
              <a:rPr lang="en-US" dirty="0"/>
              <a:t>Effective body language enhances your message, making it more impactful and memorable:</a:t>
            </a:r>
          </a:p>
          <a:p>
            <a:pPr lvl="1"/>
            <a:r>
              <a:rPr lang="en-US" dirty="0"/>
              <a:t>Used </a:t>
            </a:r>
            <a:r>
              <a:rPr lang="en-US" b="1" dirty="0"/>
              <a:t>‘</a:t>
            </a:r>
            <a:r>
              <a:rPr lang="en-US" b="1" dirty="0" err="1"/>
              <a:t>RandomizedSearchCV</a:t>
            </a:r>
            <a:r>
              <a:rPr lang="en-US" b="1" dirty="0"/>
              <a:t>’ </a:t>
            </a:r>
            <a:r>
              <a:rPr lang="en-US" dirty="0"/>
              <a:t>on a 250,000-row sample to find the best hyperparameters.</a:t>
            </a:r>
          </a:p>
          <a:p>
            <a:pPr lvl="1"/>
            <a:r>
              <a:rPr lang="en-US" dirty="0"/>
              <a:t>Re-trained the final, winning model on the </a:t>
            </a:r>
            <a:r>
              <a:rPr lang="en-US" b="1" dirty="0"/>
              <a:t>entire 1.24 million-row dataset</a:t>
            </a:r>
            <a:r>
              <a:rPr lang="en-US" dirty="0"/>
              <a:t> to ensure maximum performance.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AA2678-D2AD-6101-2A00-2289475AE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85D3F45-5DEB-75CE-F318-5C86662C4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Baseline: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 simple, interpretable statistical model).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 descr="A computer screen with a wrench and graph&#10;&#10;AI-generated content may be incorrect.">
            <a:extLst>
              <a:ext uri="{FF2B5EF4-FFF2-40B4-BE49-F238E27FC236}">
                <a16:creationId xmlns:a16="http://schemas.microsoft.com/office/drawing/2014/main" id="{00210A07-E9B3-62E7-C3AA-3BE227025F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64" b="8796"/>
          <a:stretch>
            <a:fillRect/>
          </a:stretch>
        </p:blipFill>
        <p:spPr>
          <a:xfrm>
            <a:off x="7334251" y="985543"/>
            <a:ext cx="4706768" cy="391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159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69231-07CD-2992-23F0-5833266F9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/>
              <a:t>Results (Part 1 - The ROC Curve)</a:t>
            </a:r>
            <a:br>
              <a:rPr lang="en-US" b="1" dirty="0"/>
            </a:br>
            <a:r>
              <a:rPr lang="en-US" sz="2800" dirty="0"/>
              <a:t>Can the Model Separate Patients?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E79751C-DFAB-B436-1FAB-D39DD575EA5D}"/>
              </a:ext>
            </a:extLst>
          </p:cNvPr>
          <p:cNvSpPr>
            <a:spLocks noGrp="1" noChangeArrowheads="1"/>
          </p:cNvSpPr>
          <p:nvPr>
            <p:ph sz="quarter" idx="15"/>
          </p:nvPr>
        </p:nvSpPr>
        <p:spPr bwMode="auto">
          <a:xfrm>
            <a:off x="838202" y="2075696"/>
            <a:ext cx="5134335" cy="2706608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Key Metric (AUROC):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Measures the model's ability to rank a random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dirty="0"/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septic patient higher than a random healthy patient.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Result: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</a:rPr>
              <a:t>XGBoost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 AUROC = 0.751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11" name="Content Placeholder 10" descr="A graph of a curve&#10;&#10;AI-generated content may be incorrect.">
            <a:extLst>
              <a:ext uri="{FF2B5EF4-FFF2-40B4-BE49-F238E27FC236}">
                <a16:creationId xmlns:a16="http://schemas.microsoft.com/office/drawing/2014/main" id="{80669D5D-8023-F115-5B10-A076732669CF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9825" y="1922066"/>
            <a:ext cx="5133975" cy="3850481"/>
          </a:xfrm>
        </p:spPr>
      </p:pic>
    </p:spTree>
    <p:extLst>
      <p:ext uri="{BB962C8B-B14F-4D97-AF65-F5344CB8AC3E}">
        <p14:creationId xmlns:p14="http://schemas.microsoft.com/office/powerpoint/2010/main" val="2513013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A8A3-89E0-EF78-01F8-63495D813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650" y="232411"/>
            <a:ext cx="8140700" cy="853440"/>
          </a:xfrm>
        </p:spPr>
        <p:txBody>
          <a:bodyPr/>
          <a:lstStyle/>
          <a:p>
            <a:r>
              <a:rPr lang="en-US" b="1" dirty="0"/>
              <a:t>The "Needle-in-a-Haystack" Problem</a:t>
            </a:r>
            <a:r>
              <a:rPr lang="en-US" dirty="0"/>
              <a:t> 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76E34F3-AB1E-46EE-A845-BB9BB79B4750}"/>
              </a:ext>
            </a:extLst>
          </p:cNvPr>
          <p:cNvSpPr>
            <a:spLocks noGrp="1" noChangeArrowheads="1"/>
          </p:cNvSpPr>
          <p:nvPr>
            <p:ph sz="quarter" idx="15"/>
          </p:nvPr>
        </p:nvSpPr>
        <p:spPr bwMode="auto">
          <a:xfrm>
            <a:off x="654050" y="2171993"/>
            <a:ext cx="610235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Key Finding: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This project's biggest challenge isn't the model, it's the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Problem: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Only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0.48%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(less than half a percent!) of the      patient-hours in</a:t>
            </a:r>
            <a:r>
              <a:rPr lang="en-US" altLang="en-US" dirty="0"/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my 6-hour window are "positive" for sepsis.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means: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every 1 true sepsis case, there are over 200 healthy cases.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Why this matters: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This is an extreme Class Imbalance. "Accuracy" is a useless metric. </a:t>
            </a:r>
          </a:p>
        </p:txBody>
      </p:sp>
      <p:pic>
        <p:nvPicPr>
          <p:cNvPr id="7" name="Picture 6" descr="A pile of hay with many icons&#10;&#10;AI-generated content may be incorrect.">
            <a:extLst>
              <a:ext uri="{FF2B5EF4-FFF2-40B4-BE49-F238E27FC236}">
                <a16:creationId xmlns:a16="http://schemas.microsoft.com/office/drawing/2014/main" id="{036AF0BD-0724-9C64-F882-569D2ACA18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70" b="9969"/>
          <a:stretch>
            <a:fillRect/>
          </a:stretch>
        </p:blipFill>
        <p:spPr>
          <a:xfrm>
            <a:off x="7109346" y="1381836"/>
            <a:ext cx="4784678" cy="4094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056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343"/>
            <a:ext cx="10515600" cy="870307"/>
          </a:xfrm>
          <a:noFill/>
        </p:spPr>
        <p:txBody>
          <a:bodyPr anchor="ctr"/>
          <a:lstStyle/>
          <a:p>
            <a:r>
              <a:rPr lang="en-US" b="1" dirty="0"/>
              <a:t>Results (Part 2 - AUPRC)</a:t>
            </a:r>
          </a:p>
        </p:txBody>
      </p:sp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F2CCE123-860F-8623-781F-12CEA66980F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959334"/>
            <a:ext cx="5621338" cy="2553569"/>
          </a:xfrm>
        </p:spPr>
        <p:txBody>
          <a:bodyPr/>
          <a:lstStyle/>
          <a:p>
            <a:r>
              <a:rPr lang="en-US" b="1" dirty="0"/>
              <a:t>Key Metric (AUPRC):</a:t>
            </a:r>
            <a:r>
              <a:rPr lang="en-US" dirty="0"/>
              <a:t> Measures Precision vs. Recall. It's the best metric for "needle-in-a-haystack" problems. </a:t>
            </a:r>
          </a:p>
          <a:p>
            <a:r>
              <a:rPr lang="en-US" b="1" dirty="0"/>
              <a:t>Result: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Baseline (Random Guess): 0.005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dirty="0" err="1"/>
              <a:t>XGBoost</a:t>
            </a:r>
            <a:r>
              <a:rPr lang="en-US" dirty="0"/>
              <a:t> (Full Data): 0.009</a:t>
            </a:r>
          </a:p>
          <a:p>
            <a:endParaRPr lang="en-US" dirty="0"/>
          </a:p>
        </p:txBody>
      </p:sp>
      <p:pic>
        <p:nvPicPr>
          <p:cNvPr id="6" name="Content Placeholder 5" descr="A graph with red lines and blue text&#10;&#10;AI-generated content may be incorrect.">
            <a:extLst>
              <a:ext uri="{FF2B5EF4-FFF2-40B4-BE49-F238E27FC236}">
                <a16:creationId xmlns:a16="http://schemas.microsoft.com/office/drawing/2014/main" id="{BCDCB54F-74BC-8CB3-987C-5BD09524633B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0238" y="1324571"/>
            <a:ext cx="4894262" cy="3670696"/>
          </a:xfrm>
          <a:noFill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80227B8-A24C-8C29-034A-D7700B887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9DD4D-4EF4-EE84-16CB-D4F501275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Results (Part 3 - Confusion Matrix) </a:t>
            </a:r>
            <a:endParaRPr lang="en-US" b="1" dirty="0"/>
          </a:p>
        </p:txBody>
      </p:sp>
      <p:pic>
        <p:nvPicPr>
          <p:cNvPr id="6" name="Content Placeholder 5" descr="A screenshot of a graph&#10;&#10;AI-generated content may be incorrect.">
            <a:extLst>
              <a:ext uri="{FF2B5EF4-FFF2-40B4-BE49-F238E27FC236}">
                <a16:creationId xmlns:a16="http://schemas.microsoft.com/office/drawing/2014/main" id="{82DB70DA-EE5A-056D-CAFA-3BE84604502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750" y="2099667"/>
            <a:ext cx="5015178" cy="3761383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9F9B4A-DBD8-4382-0C2B-7C976F21AA9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19445" y="1904130"/>
            <a:ext cx="4894006" cy="4137189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Key Finding:</a:t>
            </a:r>
            <a:r>
              <a:rPr lang="en-US" dirty="0"/>
              <a:t> This matrix explains the AUPRC score.</a:t>
            </a:r>
          </a:p>
          <a:p>
            <a:r>
              <a:rPr lang="en-US" b="1" dirty="0"/>
              <a:t>True Positives:</a:t>
            </a:r>
            <a:r>
              <a:rPr lang="en-US" dirty="0"/>
              <a:t> We correctly found </a:t>
            </a:r>
            <a:r>
              <a:rPr lang="en-US" b="1" dirty="0"/>
              <a:t>561</a:t>
            </a:r>
            <a:r>
              <a:rPr lang="en-US" dirty="0"/>
              <a:t> sepsis cases 6 hours in advance.</a:t>
            </a:r>
          </a:p>
          <a:p>
            <a:r>
              <a:rPr lang="en-US" b="1" dirty="0"/>
              <a:t>False Negatives:</a:t>
            </a:r>
            <a:r>
              <a:rPr lang="en-US" dirty="0"/>
              <a:t> We missed </a:t>
            </a:r>
            <a:r>
              <a:rPr lang="en-US" b="1" dirty="0"/>
              <a:t>940</a:t>
            </a:r>
            <a:r>
              <a:rPr lang="en-US" dirty="0"/>
              <a:t> cases.</a:t>
            </a:r>
          </a:p>
          <a:p>
            <a:r>
              <a:rPr lang="en-US" b="1" dirty="0"/>
              <a:t>False Positives:</a:t>
            </a:r>
            <a:r>
              <a:rPr lang="en-US" dirty="0"/>
              <a:t> To find those 561 cases, the model generated </a:t>
            </a:r>
            <a:r>
              <a:rPr lang="en-US" b="1" dirty="0"/>
              <a:t>49,312</a:t>
            </a:r>
            <a:r>
              <a:rPr lang="en-US" dirty="0"/>
              <a:t> false alarms.</a:t>
            </a:r>
          </a:p>
          <a:p>
            <a:endParaRPr lang="en-US" dirty="0"/>
          </a:p>
          <a:p>
            <a:r>
              <a:rPr lang="en-US" dirty="0"/>
              <a:t>Finding best threshold based on F1-Score </a:t>
            </a:r>
          </a:p>
          <a:p>
            <a:r>
              <a:rPr lang="en-US" b="1" dirty="0"/>
              <a:t>Best Threshold found: 0.5775 </a:t>
            </a:r>
          </a:p>
          <a:p>
            <a:r>
              <a:rPr lang="en-US" dirty="0"/>
              <a:t>This threshold gives </a:t>
            </a:r>
          </a:p>
          <a:p>
            <a:r>
              <a:rPr lang="en-US" dirty="0"/>
              <a:t>F1: 0.0218 </a:t>
            </a:r>
          </a:p>
          <a:p>
            <a:r>
              <a:rPr lang="en-US" dirty="0"/>
              <a:t>At this threshold: </a:t>
            </a:r>
            <a:r>
              <a:rPr lang="en-US" b="1" dirty="0"/>
              <a:t>Precision=0.0112</a:t>
            </a:r>
            <a:r>
              <a:rPr lang="en-US" dirty="0"/>
              <a:t>, </a:t>
            </a:r>
            <a:r>
              <a:rPr lang="en-US" b="1" dirty="0"/>
              <a:t>Recall=0.3738</a:t>
            </a:r>
          </a:p>
        </p:txBody>
      </p:sp>
    </p:spTree>
    <p:extLst>
      <p:ext uri="{BB962C8B-B14F-4D97-AF65-F5344CB8AC3E}">
        <p14:creationId xmlns:p14="http://schemas.microsoft.com/office/powerpoint/2010/main" val="3401909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FB0B3-37AA-7327-1E05-2D0A3ECF9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/>
              <a:t>Why Does It Work? Model Interpretability (SHAP)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7FA1C-5D9A-DB75-F9B0-6FE2B7B13E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/>
          <a:p>
            <a:r>
              <a:rPr lang="en-US" b="1" dirty="0"/>
              <a:t>Finding:</a:t>
            </a:r>
            <a:r>
              <a:rPr lang="en-US" dirty="0"/>
              <a:t> The model is not a "black box." It learned real clinical patterns.</a:t>
            </a:r>
          </a:p>
          <a:p>
            <a:endParaRPr lang="en-US" dirty="0"/>
          </a:p>
          <a:p>
            <a:r>
              <a:rPr lang="en-US" b="1" dirty="0"/>
              <a:t>Top Predictors: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HCO3_max_12hr</a:t>
            </a:r>
            <a:r>
              <a:rPr lang="en-US" dirty="0"/>
              <a:t> (Bicarbonate)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Chloride_max_12hr</a:t>
            </a:r>
            <a:r>
              <a:rPr lang="en-US" dirty="0"/>
              <a:t> (Chloride)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Temp_mean_12hr</a:t>
            </a:r>
            <a:r>
              <a:rPr lang="en-US" dirty="0"/>
              <a:t> (Temperature)</a:t>
            </a:r>
          </a:p>
          <a:p>
            <a:endParaRPr lang="en-US" dirty="0"/>
          </a:p>
        </p:txBody>
      </p:sp>
      <p:pic>
        <p:nvPicPr>
          <p:cNvPr id="6" name="Content Placeholder 5" descr="A graph with blue squares&#10;&#10;AI-generated content may be incorrect.">
            <a:extLst>
              <a:ext uri="{FF2B5EF4-FFF2-40B4-BE49-F238E27FC236}">
                <a16:creationId xmlns:a16="http://schemas.microsoft.com/office/drawing/2014/main" id="{FBFD0C50-5EEE-C9C3-1716-220DDAE29596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007" y="1790329"/>
            <a:ext cx="3465249" cy="4113054"/>
          </a:xfrm>
          <a:noFill/>
        </p:spPr>
      </p:pic>
    </p:spTree>
    <p:extLst>
      <p:ext uri="{BB962C8B-B14F-4D97-AF65-F5344CB8AC3E}">
        <p14:creationId xmlns:p14="http://schemas.microsoft.com/office/powerpoint/2010/main" val="390798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  <a:noFill/>
        </p:spPr>
        <p:txBody>
          <a:bodyPr anchor="ctr"/>
          <a:lstStyle/>
          <a:p>
            <a:r>
              <a:rPr lang="en-US" b="1" dirty="0"/>
              <a:t>Additional Findings (The "Failed" Experiments)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1790329"/>
            <a:ext cx="7080250" cy="4113054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Experiment 1:</a:t>
            </a:r>
            <a:r>
              <a:rPr lang="en-US" dirty="0"/>
              <a:t> Under-sampling (3:1 ratio).</a:t>
            </a:r>
          </a:p>
          <a:p>
            <a:r>
              <a:rPr lang="en-US" i="1" dirty="0"/>
              <a:t>Result:</a:t>
            </a:r>
            <a:r>
              <a:rPr lang="en-US" dirty="0"/>
              <a:t> AUPRC dropped from 0.0094 to 0.0084.</a:t>
            </a:r>
          </a:p>
          <a:p>
            <a:r>
              <a:rPr lang="en-US" b="1" dirty="0"/>
              <a:t>Experiment 2:</a:t>
            </a:r>
            <a:r>
              <a:rPr lang="en-US" dirty="0"/>
              <a:t> SHAP Feature Selection + SMOTE (Oversampling).</a:t>
            </a:r>
          </a:p>
          <a:p>
            <a:r>
              <a:rPr lang="en-US" i="1" dirty="0"/>
              <a:t>Result:</a:t>
            </a:r>
            <a:r>
              <a:rPr lang="en-US" dirty="0"/>
              <a:t> AUPRC dropped from 0.0094 to 0.0093.</a:t>
            </a:r>
          </a:p>
          <a:p>
            <a:r>
              <a:rPr lang="en-US" b="1" dirty="0"/>
              <a:t>Conclusion:</a:t>
            </a:r>
            <a:r>
              <a:rPr lang="en-US" dirty="0"/>
              <a:t> </a:t>
            </a:r>
            <a:r>
              <a:rPr lang="en-US" b="1" dirty="0"/>
              <a:t>More data is better.</a:t>
            </a:r>
            <a:r>
              <a:rPr lang="en-US" dirty="0"/>
              <a:t> My model </a:t>
            </a:r>
            <a:r>
              <a:rPr lang="en-US" i="1" dirty="0"/>
              <a:t>needs</a:t>
            </a:r>
            <a:r>
              <a:rPr lang="en-US" dirty="0"/>
              <a:t> the full 1.2 million "healthy" rows to learn the subtle context. Throwing away data or adding synthetic data worsened performance.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E39F69-A1C6-AF25-B91E-7EEE8ED9E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31DBCC-167F-8934-0270-15CC045F5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794" y="1790329"/>
            <a:ext cx="4382112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448056"/>
            <a:ext cx="6896101" cy="1094994"/>
          </a:xfrm>
          <a:noFill/>
        </p:spPr>
        <p:txBody>
          <a:bodyPr anchor="b"/>
          <a:lstStyle/>
          <a:p>
            <a:r>
              <a:rPr lang="en-US" b="1" dirty="0"/>
              <a:t>Limitations &amp; Future Improvement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-12700" y="1691912"/>
            <a:ext cx="7734300" cy="4467587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700" b="1" dirty="0"/>
              <a:t>1. Computational Limitations:</a:t>
            </a:r>
            <a:endParaRPr lang="en-US" sz="1700" dirty="0"/>
          </a:p>
          <a:p>
            <a:r>
              <a:rPr lang="en-US" sz="1700" dirty="0"/>
              <a:t>Tuning on 1.2M+ rows with 170 features is very memory-intensive. Parallel processing (</a:t>
            </a:r>
            <a:r>
              <a:rPr lang="en-US" sz="1700" dirty="0" err="1"/>
              <a:t>n_jobs</a:t>
            </a:r>
            <a:r>
              <a:rPr lang="en-US" sz="1700" dirty="0"/>
              <a:t> &gt; 1) repeatedly caused the system to hang, forcing a "sample-then-retrain" strategy.</a:t>
            </a:r>
          </a:p>
          <a:p>
            <a:r>
              <a:rPr lang="en-US" sz="1700" dirty="0"/>
              <a:t>This limitation also made </a:t>
            </a:r>
            <a:r>
              <a:rPr lang="en-US" sz="1700" b="1" dirty="0"/>
              <a:t>LSTMs</a:t>
            </a:r>
            <a:r>
              <a:rPr lang="en-US" sz="1700" dirty="0"/>
              <a:t> (a more complex time-series model) unfeasible. LSTMs require reshaping the </a:t>
            </a:r>
            <a:r>
              <a:rPr lang="en-US" sz="1700" i="1" dirty="0"/>
              <a:t>entire</a:t>
            </a:r>
            <a:r>
              <a:rPr lang="en-US" sz="1700" dirty="0"/>
              <a:t> 1.2M+ row dataset into a 3D data cube, which is even more computationally taxing and prone to failure on the available hardware.</a:t>
            </a:r>
          </a:p>
          <a:p>
            <a:r>
              <a:rPr lang="en-US" sz="1700" b="1" dirty="0"/>
              <a:t>2. Data Limitations:</a:t>
            </a:r>
            <a:endParaRPr lang="en-US" sz="1700" dirty="0"/>
          </a:p>
          <a:p>
            <a:r>
              <a:rPr lang="en-US" sz="1700" dirty="0"/>
              <a:t>The </a:t>
            </a:r>
            <a:r>
              <a:rPr lang="en-US" sz="1700" b="1" dirty="0"/>
              <a:t>0.48% positive rate</a:t>
            </a:r>
            <a:r>
              <a:rPr lang="en-US" sz="1700" dirty="0"/>
              <a:t> is the single biggest hurdle. The model would be dramatically more accurate if it could be trained on a dataset with a higher prevalence of positive sepsis cases.</a:t>
            </a:r>
          </a:p>
          <a:p>
            <a:r>
              <a:rPr lang="en-US" sz="1700" b="1" dirty="0"/>
              <a:t>3. Future Work:</a:t>
            </a:r>
            <a:endParaRPr lang="en-US" sz="1700" dirty="0"/>
          </a:p>
          <a:p>
            <a:r>
              <a:rPr lang="en-US" sz="1700" dirty="0"/>
              <a:t>Engineer "slope" features (rate of change).</a:t>
            </a:r>
          </a:p>
          <a:p>
            <a:r>
              <a:rPr lang="en-US" sz="1700" dirty="0"/>
              <a:t>With access to GPU-based cloud computing, I would implement the LSTM model.</a:t>
            </a:r>
          </a:p>
          <a:p>
            <a:endParaRPr lang="en-US" sz="1700" dirty="0"/>
          </a:p>
          <a:p>
            <a:endParaRPr lang="en-US" sz="1700" dirty="0"/>
          </a:p>
        </p:txBody>
      </p:sp>
      <p:pic>
        <p:nvPicPr>
          <p:cNvPr id="15" name="Picture Placeholder 5" descr="A person looking at blueprints on a brick wall">
            <a:extLst>
              <a:ext uri="{FF2B5EF4-FFF2-40B4-BE49-F238E27FC236}">
                <a16:creationId xmlns:a16="http://schemas.microsoft.com/office/drawing/2014/main" id="{BBD84AA8-495D-1210-1B06-DA73C5BCF36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7157" r="27157"/>
          <a:stretch/>
        </p:blipFill>
        <p:spPr>
          <a:xfrm>
            <a:off x="7721600" y="-22225"/>
            <a:ext cx="4470400" cy="6880225"/>
          </a:xfrm>
        </p:spPr>
      </p:pic>
    </p:spTree>
    <p:extLst>
      <p:ext uri="{BB962C8B-B14F-4D97-AF65-F5344CB8AC3E}">
        <p14:creationId xmlns:p14="http://schemas.microsoft.com/office/powerpoint/2010/main" val="1649597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2111"/>
            <a:ext cx="10515600" cy="821690"/>
          </a:xfrm>
          <a:noFill/>
        </p:spPr>
        <p:txBody>
          <a:bodyPr anchor="ctr">
            <a:noAutofit/>
          </a:bodyPr>
          <a:lstStyle/>
          <a:p>
            <a:r>
              <a:rPr lang="en-US" b="1" dirty="0"/>
              <a:t>Conclusion</a:t>
            </a:r>
            <a:br>
              <a:rPr lang="en-US" dirty="0"/>
            </a:br>
            <a:r>
              <a:rPr lang="en-US" sz="1800" dirty="0"/>
              <a:t>Key Project Findings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A353244-ACC3-7E87-1D99-A35A1B3C2802}"/>
              </a:ext>
            </a:extLst>
          </p:cNvPr>
          <p:cNvSpPr>
            <a:spLocks noGrp="1" noChangeArrowheads="1"/>
          </p:cNvSpPr>
          <p:nvPr>
            <p:ph sz="quarter" idx="15"/>
          </p:nvPr>
        </p:nvSpPr>
        <p:spPr bwMode="auto">
          <a:xfrm>
            <a:off x="276986" y="1920414"/>
            <a:ext cx="762484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Success: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Built a model with a strong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AUROC of 0.751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Discovery: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Proved this is a "needle-in-a-haystack" problem (0.48% prevalence),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 the model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doubled the baseline AUPRC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Insight: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SHAP analysis showed the model learned real clinical patterns,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prioritizing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Bicarbonate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HCO3</a:t>
            </a:r>
            <a:r>
              <a:rPr lang="en-US" altLang="en-US" b="1" dirty="0"/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as the top predictor.</a:t>
            </a:r>
          </a:p>
        </p:txBody>
      </p:sp>
      <p:pic>
        <p:nvPicPr>
          <p:cNvPr id="10" name="Picture 9" descr="A graph with red lines and blue text&#10;&#10;AI-generated content may be incorrect.">
            <a:extLst>
              <a:ext uri="{FF2B5EF4-FFF2-40B4-BE49-F238E27FC236}">
                <a16:creationId xmlns:a16="http://schemas.microsoft.com/office/drawing/2014/main" id="{D8B79693-F10D-CF78-8DE4-D925CC7AE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2893" y="1272039"/>
            <a:ext cx="3194057" cy="2395543"/>
          </a:xfrm>
          <a:prstGeom prst="rect">
            <a:avLst/>
          </a:prstGeom>
        </p:spPr>
      </p:pic>
      <p:pic>
        <p:nvPicPr>
          <p:cNvPr id="12" name="Picture 11" descr="A graph of a curve&#10;&#10;AI-generated content may be incorrect.">
            <a:extLst>
              <a:ext uri="{FF2B5EF4-FFF2-40B4-BE49-F238E27FC236}">
                <a16:creationId xmlns:a16="http://schemas.microsoft.com/office/drawing/2014/main" id="{4B47CB4A-59FA-3FBD-33A1-BACEC5E3CA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4258" y="3745820"/>
            <a:ext cx="3251325" cy="2616198"/>
          </a:xfrm>
          <a:prstGeom prst="rect">
            <a:avLst/>
          </a:prstGeom>
        </p:spPr>
      </p:pic>
      <p:pic>
        <p:nvPicPr>
          <p:cNvPr id="14" name="Picture 13" descr="A graph with blue squares&#10;&#10;AI-generated content may be incorrect.">
            <a:extLst>
              <a:ext uri="{FF2B5EF4-FFF2-40B4-BE49-F238E27FC236}">
                <a16:creationId xmlns:a16="http://schemas.microsoft.com/office/drawing/2014/main" id="{3D3201E3-7D14-F9E6-3977-05999A0FB9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86" y="3951739"/>
            <a:ext cx="2674544" cy="290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DA972-BD3A-3DCD-81F1-7AF161F58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0FE33-53A6-E75A-9BA0-8B7B1BFDD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7150" y="295275"/>
            <a:ext cx="9213850" cy="695325"/>
          </a:xfrm>
          <a:noFill/>
        </p:spPr>
        <p:txBody>
          <a:bodyPr anchor="ctr"/>
          <a:lstStyle/>
          <a:p>
            <a:r>
              <a:rPr lang="en-US" b="1" dirty="0"/>
              <a:t>Inspiration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4F9319-D7CD-3322-183B-A05A3E88F207}"/>
              </a:ext>
            </a:extLst>
          </p:cNvPr>
          <p:cNvSpPr txBox="1"/>
          <p:nvPr/>
        </p:nvSpPr>
        <p:spPr>
          <a:xfrm>
            <a:off x="838200" y="1530349"/>
            <a:ext cx="982345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The Competition: Early Prediction of Sepsis</a:t>
            </a:r>
          </a:p>
          <a:p>
            <a:r>
              <a:rPr lang="en-US" sz="1400" dirty="0"/>
              <a:t>The 2019 PhysioNet/Computing in Cardiology Challenge was titled </a:t>
            </a:r>
            <a:r>
              <a:rPr lang="en-US" sz="1400" b="1" dirty="0"/>
              <a:t>"Early Prediction of Sepsis from Clinical Data.“</a:t>
            </a:r>
          </a:p>
          <a:p>
            <a:endParaRPr lang="en-US" sz="1400" b="1" dirty="0"/>
          </a:p>
          <a:p>
            <a:r>
              <a:rPr lang="en-US" sz="1400" dirty="0"/>
              <a:t>The primary goal was for teams to develop automated, open-source algorithms that could predict the onset of sepsis. The challenge used a large dataset of de-identified data from over 60,000 ICU patients.</a:t>
            </a:r>
          </a:p>
          <a:p>
            <a:endParaRPr lang="en-US" sz="1400" dirty="0"/>
          </a:p>
          <a:p>
            <a:r>
              <a:rPr lang="en-US" sz="1400" b="1" dirty="0"/>
              <a:t>A key aspect of the competition was its unique scoring system. It wasn't just about accuracy; it used a "clinical utility-based" metric that:</a:t>
            </a:r>
          </a:p>
          <a:p>
            <a:r>
              <a:rPr lang="en-US" sz="1400" b="1" dirty="0"/>
              <a:t>- Rewarded</a:t>
            </a:r>
            <a:r>
              <a:rPr lang="en-US" sz="1400" dirty="0"/>
              <a:t> algorithms for correctly predicting sepsis several hours before its clinical onset.</a:t>
            </a:r>
          </a:p>
          <a:p>
            <a:pPr marL="285750" indent="-285750">
              <a:buFontTx/>
              <a:buChar char="-"/>
            </a:pPr>
            <a:r>
              <a:rPr lang="en-US" sz="1400" b="1" dirty="0"/>
              <a:t>Penalized</a:t>
            </a:r>
            <a:r>
              <a:rPr lang="en-US" sz="1400" dirty="0"/>
              <a:t> algorithms for late predictions (after onset), missed detections, and false alarms.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  <a:p>
            <a:r>
              <a:rPr lang="en-US" sz="1400" dirty="0"/>
              <a:t>The competition was ranked based on the algorithm that achieved the highest score on a hidden test set. </a:t>
            </a:r>
          </a:p>
          <a:p>
            <a:endParaRPr lang="en-US" sz="1400" b="1" dirty="0"/>
          </a:p>
          <a:p>
            <a:r>
              <a:rPr lang="en-US" sz="1400" b="1" dirty="0"/>
              <a:t>Winning Team:</a:t>
            </a:r>
          </a:p>
          <a:p>
            <a:r>
              <a:rPr lang="en-US" sz="1400" dirty="0"/>
              <a:t>James Morrill, Andrey </a:t>
            </a:r>
            <a:r>
              <a:rPr lang="en-US" sz="1400" dirty="0" err="1"/>
              <a:t>Kormilitzin</a:t>
            </a:r>
            <a:r>
              <a:rPr lang="en-US" sz="1400" dirty="0"/>
              <a:t>, Alejo Nevado-Holgado, Sumanth Swaminathan, Sam Howison, and Terry Lyons.</a:t>
            </a:r>
          </a:p>
          <a:p>
            <a:endParaRPr lang="en-US" sz="1400" dirty="0"/>
          </a:p>
          <a:p>
            <a:r>
              <a:rPr lang="en-US" sz="1400" dirty="0"/>
              <a:t>Their victory was based on a highly-specialized feature engineering technique. The model was called the </a:t>
            </a:r>
            <a:r>
              <a:rPr lang="en-US" sz="1400" b="1" dirty="0"/>
              <a:t>"Signature-Based Model,"</a:t>
            </a:r>
            <a:r>
              <a:rPr lang="en-US" sz="1400" dirty="0"/>
              <a:t> which is based on a mathematical concept called </a:t>
            </a:r>
            <a:r>
              <a:rPr lang="en-US" sz="1400" b="1" dirty="0"/>
              <a:t>rough path theory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3691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030E03B4-DAB0-F43D-4B1C-C54F75E621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AB1CD4B-2C7F-1593-8E69-B7450F3D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714" y="990819"/>
            <a:ext cx="9467127" cy="850465"/>
          </a:xfrm>
        </p:spPr>
        <p:txBody>
          <a:bodyPr/>
          <a:lstStyle/>
          <a:p>
            <a:r>
              <a:rPr lang="en-US" b="1" dirty="0"/>
              <a:t>REFERENCE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6613063-168A-02B8-4326-BB842F3B83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1714" y="3340101"/>
            <a:ext cx="9467850" cy="1593850"/>
          </a:xfrm>
        </p:spPr>
        <p:txBody>
          <a:bodyPr/>
          <a:lstStyle/>
          <a:p>
            <a:r>
              <a:rPr lang="en-US" b="1" dirty="0"/>
              <a:t>Dataset</a:t>
            </a:r>
            <a:r>
              <a:rPr lang="en-US" dirty="0"/>
              <a:t> : </a:t>
            </a:r>
            <a:r>
              <a:rPr lang="en-US" dirty="0">
                <a:hlinkClick r:id="rId3"/>
              </a:rPr>
              <a:t>https://physionet.org/content/challenge-2019/1.0.0/</a:t>
            </a:r>
            <a:endParaRPr lang="en-US" dirty="0"/>
          </a:p>
          <a:p>
            <a:r>
              <a:rPr lang="en-US" dirty="0"/>
              <a:t>Imbalanced-learn</a:t>
            </a:r>
            <a:r>
              <a:rPr lang="en-US" b="1" dirty="0"/>
              <a:t>(SMOTE) </a:t>
            </a:r>
            <a:r>
              <a:rPr lang="en-US" dirty="0"/>
              <a:t>and </a:t>
            </a:r>
            <a:r>
              <a:rPr lang="en-US" b="1" dirty="0"/>
              <a:t>SHAP</a:t>
            </a:r>
            <a:r>
              <a:rPr lang="en-US" dirty="0"/>
              <a:t> Documentation</a:t>
            </a:r>
          </a:p>
          <a:p>
            <a:r>
              <a:rPr lang="en-US" b="1" dirty="0"/>
              <a:t>Concepts applied from MS-BANA courses</a:t>
            </a:r>
            <a:r>
              <a:rPr lang="en-US" dirty="0"/>
              <a:t>: Statistical Modelling, Data Mining I and II, Machine Learning from Intelligent Data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47229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ac_CP_V19" id="{030227AD-26D8-46F7-B412-6532AF4DDFEA}" vid="{787E6F9C-FC70-455D-8D81-5DEDA8A08F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F2A2379-DD35-4769-BFD6-4857D72F8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C2645A-E767-4D7E-984D-234E531E455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{B19A1228-F2A1-4917-ADC3-567A38E543F0}TFb73f27a7-0404-48d9-96f8-0ca8d35477ec68e4afe9_win32-7b62b493978d</Template>
  <TotalTime>289</TotalTime>
  <Words>1323</Words>
  <Application>Microsoft Office PowerPoint</Application>
  <PresentationFormat>Widescreen</PresentationFormat>
  <Paragraphs>127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Wingdings</vt:lpstr>
      <vt:lpstr>Custom</vt:lpstr>
      <vt:lpstr>Sepsis Early Warning System: A Capstone Project  Predicting Sepsis 6 Hours in Advance Using ICU Time-Series Data</vt:lpstr>
      <vt:lpstr>The Sepsis Challenge</vt:lpstr>
      <vt:lpstr>The Data: PhysioNet/Computing in Cardiology Challenge 2019</vt:lpstr>
      <vt:lpstr>Methodology: Building the Data Pipeline</vt:lpstr>
      <vt:lpstr>Methodology: The "Sliding Window"</vt:lpstr>
      <vt:lpstr>Model Selection &amp; Tuning</vt:lpstr>
      <vt:lpstr>Results (Part 1 - The ROC Curve) Can the Model Separate Patients?</vt:lpstr>
      <vt:lpstr>The "Needle-in-a-Haystack" Problem </vt:lpstr>
      <vt:lpstr>Results (Part 2 - AUPRC)</vt:lpstr>
      <vt:lpstr>Results (Part 3 - Confusion Matrix) </vt:lpstr>
      <vt:lpstr>Why Does It Work? Model Interpretability (SHAP)</vt:lpstr>
      <vt:lpstr>Additional Findings (The "Failed" Experiments) </vt:lpstr>
      <vt:lpstr>Limitations &amp; Future Improvement</vt:lpstr>
      <vt:lpstr>Conclusion Key Project Findings</vt:lpstr>
      <vt:lpstr>Inspiration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shirsendu maiti</dc:creator>
  <cp:lastModifiedBy>shirsendu maiti</cp:lastModifiedBy>
  <cp:revision>1</cp:revision>
  <dcterms:created xsi:type="dcterms:W3CDTF">2025-11-12T07:55:42Z</dcterms:created>
  <dcterms:modified xsi:type="dcterms:W3CDTF">2025-11-12T12:44:52Z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